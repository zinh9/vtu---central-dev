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Fonte A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F53B3374-867D-41A3-AD6B-F41AE81150B7}"/>
              </a:ext>
            </a:extLst>
          </p:cNvPr>
          <p:cNvSpPr/>
          <p:nvPr userDrawn="1"/>
        </p:nvSpPr>
        <p:spPr>
          <a:xfrm>
            <a:off x="1" y="5889626"/>
            <a:ext cx="10096500" cy="968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 sz="1800" dirty="0">
              <a:solidFill>
                <a:srgbClr val="FFFFFF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E8DF400-5526-4E1B-8327-F83285B8C482}"/>
              </a:ext>
            </a:extLst>
          </p:cNvPr>
          <p:cNvSpPr/>
          <p:nvPr userDrawn="1"/>
        </p:nvSpPr>
        <p:spPr>
          <a:xfrm>
            <a:off x="0" y="6635750"/>
            <a:ext cx="12192000" cy="22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 sz="1800" dirty="0">
              <a:solidFill>
                <a:srgbClr val="FFFFFF"/>
              </a:solidFill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2148D08C-BE3B-419F-B971-80B97D769465}"/>
              </a:ext>
            </a:extLst>
          </p:cNvPr>
          <p:cNvSpPr/>
          <p:nvPr userDrawn="1"/>
        </p:nvSpPr>
        <p:spPr>
          <a:xfrm>
            <a:off x="0" y="4108450"/>
            <a:ext cx="12192000" cy="141288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 sz="1800" dirty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16" y="4513134"/>
            <a:ext cx="10648968" cy="1073111"/>
          </a:xfrm>
        </p:spPr>
        <p:txBody>
          <a:bodyPr>
            <a:noAutofit/>
          </a:bodyPr>
          <a:lstStyle>
            <a:lvl1pPr algn="l">
              <a:defRPr sz="3300" b="1" cap="none">
                <a:solidFill>
                  <a:srgbClr val="747678"/>
                </a:solidFill>
              </a:defRPr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16" y="5586240"/>
            <a:ext cx="8879435" cy="341312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747678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12192000" cy="4134556"/>
          </a:xfrm>
        </p:spPr>
        <p:txBody>
          <a:bodyPr rtlCol="0">
            <a:normAutofit/>
          </a:bodyPr>
          <a:lstStyle/>
          <a:p>
            <a:pPr lvl="0"/>
            <a:r>
              <a:rPr lang="pt-BR" noProof="0" dirty="0"/>
              <a:t>Clique no ícone para adicionar uma imagem</a:t>
            </a:r>
            <a:endParaRPr lang="en-US" noProof="0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1"/>
          </p:nvPr>
        </p:nvSpPr>
        <p:spPr>
          <a:xfrm>
            <a:off x="677316" y="6098471"/>
            <a:ext cx="8879435" cy="341312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Contendo o nome do apresentador	   E a data (xx/xx/xxxx)</a:t>
            </a:r>
          </a:p>
        </p:txBody>
      </p:sp>
    </p:spTree>
    <p:extLst>
      <p:ext uri="{BB962C8B-B14F-4D97-AF65-F5344CB8AC3E}">
        <p14:creationId xmlns:p14="http://schemas.microsoft.com/office/powerpoint/2010/main" val="939618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SEM FOTO - Fonte A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15DD8BE6-FF40-459B-BB3D-38075AE5B69C}"/>
              </a:ext>
            </a:extLst>
          </p:cNvPr>
          <p:cNvSpPr/>
          <p:nvPr userDrawn="1"/>
        </p:nvSpPr>
        <p:spPr>
          <a:xfrm>
            <a:off x="1" y="5889626"/>
            <a:ext cx="10096500" cy="968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 sz="1800" dirty="0">
              <a:solidFill>
                <a:srgbClr val="FFFFFF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29DAB8A-A1B1-447F-A3A5-91BC714F6D08}"/>
              </a:ext>
            </a:extLst>
          </p:cNvPr>
          <p:cNvSpPr/>
          <p:nvPr userDrawn="1"/>
        </p:nvSpPr>
        <p:spPr>
          <a:xfrm>
            <a:off x="0" y="6635750"/>
            <a:ext cx="12192000" cy="22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 sz="1800" dirty="0">
              <a:solidFill>
                <a:srgbClr val="FFFFFF"/>
              </a:solidFill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862C65C-E5C5-4FEF-9540-3DDF1E3A2CEB}"/>
              </a:ext>
            </a:extLst>
          </p:cNvPr>
          <p:cNvSpPr/>
          <p:nvPr userDrawn="1"/>
        </p:nvSpPr>
        <p:spPr>
          <a:xfrm>
            <a:off x="0" y="1"/>
            <a:ext cx="12192000" cy="3419475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 sz="1800" dirty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16" y="1998534"/>
            <a:ext cx="10648968" cy="1073111"/>
          </a:xfrm>
        </p:spPr>
        <p:txBody>
          <a:bodyPr>
            <a:noAutofit/>
          </a:bodyPr>
          <a:lstStyle>
            <a:lvl1pPr algn="l">
              <a:defRPr sz="3300" b="1" cap="none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16" y="3787920"/>
            <a:ext cx="8879435" cy="341312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rgbClr val="747678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idx="11"/>
          </p:nvPr>
        </p:nvSpPr>
        <p:spPr>
          <a:xfrm>
            <a:off x="677316" y="4300151"/>
            <a:ext cx="8879435" cy="341312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 dirty="0"/>
              <a:t>Contendo o nome do apresentador	   E a data (xx/xx/xxxx)</a:t>
            </a:r>
          </a:p>
        </p:txBody>
      </p:sp>
    </p:spTree>
    <p:extLst>
      <p:ext uri="{BB962C8B-B14F-4D97-AF65-F5344CB8AC3E}">
        <p14:creationId xmlns:p14="http://schemas.microsoft.com/office/powerpoint/2010/main" val="232578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745054" y="566317"/>
            <a:ext cx="10578127" cy="1145109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0"/>
          </p:nvPr>
        </p:nvSpPr>
        <p:spPr>
          <a:xfrm>
            <a:off x="759472" y="2107837"/>
            <a:ext cx="10561925" cy="3712783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302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336" y="568425"/>
            <a:ext cx="10561925" cy="1143000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9481" y="2107837"/>
            <a:ext cx="5033511" cy="3712783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10" name="Content Placeholder 2"/>
          <p:cNvSpPr>
            <a:spLocks noGrp="1"/>
          </p:cNvSpPr>
          <p:nvPr>
            <p:ph idx="11"/>
          </p:nvPr>
        </p:nvSpPr>
        <p:spPr>
          <a:xfrm>
            <a:off x="6280751" y="2108810"/>
            <a:ext cx="5033511" cy="3712783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9010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+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336" y="568425"/>
            <a:ext cx="10561925" cy="1143000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9481" y="2107839"/>
            <a:ext cx="5033511" cy="1679071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6" name="Content Placeholder 2"/>
          <p:cNvSpPr>
            <a:spLocks noGrp="1"/>
          </p:cNvSpPr>
          <p:nvPr>
            <p:ph idx="12"/>
          </p:nvPr>
        </p:nvSpPr>
        <p:spPr>
          <a:xfrm>
            <a:off x="759481" y="4142522"/>
            <a:ext cx="5033511" cy="1679071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280751" y="2107839"/>
            <a:ext cx="5033511" cy="1679071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6280751" y="4142522"/>
            <a:ext cx="5033511" cy="1679071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6349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+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336" y="568425"/>
            <a:ext cx="10561925" cy="1143000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9480" y="2107838"/>
            <a:ext cx="10554781" cy="1825315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10" name="Content Placeholder 2"/>
          <p:cNvSpPr>
            <a:spLocks noGrp="1"/>
          </p:cNvSpPr>
          <p:nvPr>
            <p:ph idx="11"/>
          </p:nvPr>
        </p:nvSpPr>
        <p:spPr>
          <a:xfrm>
            <a:off x="759482" y="4079394"/>
            <a:ext cx="10554781" cy="1742198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11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95624905-F24C-4826-94D6-A88FB5762FF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4767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 sz="1800" dirty="0">
              <a:solidFill>
                <a:srgbClr val="FFFFFF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0E071EC-F320-42B9-9579-479FABA10B50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6580717" y="2620434"/>
            <a:ext cx="7975600" cy="161713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ts val="1824"/>
              </a:spcBef>
              <a:buFont typeface="Arial"/>
              <a:buNone/>
              <a:defRPr sz="160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pt-BR" sz="14000" b="1" spc="-1200" dirty="0">
                <a:solidFill>
                  <a:srgbClr val="FFFFFF"/>
                </a:solidFill>
              </a:rPr>
              <a:t>Disclaimer</a:t>
            </a:r>
            <a:endParaRPr lang="en-US" sz="14000" b="1" spc="-1200" dirty="0">
              <a:solidFill>
                <a:srgbClr val="FFFFFF"/>
              </a:solidFill>
            </a:endParaRP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115810" y="657227"/>
            <a:ext cx="7416799" cy="5578476"/>
          </a:xfrm>
        </p:spPr>
        <p:txBody>
          <a:bodyPr>
            <a:normAutofit/>
          </a:bodyPr>
          <a:lstStyle>
            <a:lvl1pPr marL="0" indent="0" algn="l">
              <a:buNone/>
              <a:defRPr sz="1600" b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subtitle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49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opçãodec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968B954D-658A-41B5-87C3-42570304B1B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E7A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 sz="1800" dirty="0">
              <a:solidFill>
                <a:srgbClr val="007E7A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08A6DCF-DEC9-4C3E-85D5-B26042BA68AD}"/>
              </a:ext>
            </a:extLst>
          </p:cNvPr>
          <p:cNvSpPr txBox="1">
            <a:spLocks/>
          </p:cNvSpPr>
          <p:nvPr userDrawn="1"/>
        </p:nvSpPr>
        <p:spPr bwMode="auto">
          <a:xfrm rot="16200000">
            <a:off x="7754410" y="1648884"/>
            <a:ext cx="7334250" cy="320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7500" lnSpcReduction="20000"/>
          </a:bodyPr>
          <a:lstStyle>
            <a:lvl1pPr>
              <a:spcBef>
                <a:spcPts val="1825"/>
              </a:spcBef>
              <a:buFont typeface="Arial" pitchFamily="34" charset="0"/>
              <a:defRPr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9000" b="1" dirty="0">
                <a:solidFill>
                  <a:schemeClr val="bg1"/>
                </a:solidFill>
              </a:rPr>
              <a:t>Agenda</a:t>
            </a:r>
            <a:endParaRPr lang="en-US" altLang="pt-BR" sz="19000" b="1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51243" y="837516"/>
            <a:ext cx="9125693" cy="5313405"/>
          </a:xfrm>
        </p:spPr>
        <p:txBody>
          <a:bodyPr anchor="ctr">
            <a:normAutofit/>
          </a:bodyPr>
          <a:lstStyle>
            <a:lvl1pPr marL="457200" indent="-457200">
              <a:buAutoNum type="arabicPeriod"/>
              <a:defRPr sz="2000" b="0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2724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2opçãodec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C12283B-26C4-4C2D-83E5-22FD65A9C1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 sz="1800" dirty="0">
              <a:solidFill>
                <a:srgbClr val="007E7A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B484BC3-00CF-49E3-947A-34D298D887A3}"/>
              </a:ext>
            </a:extLst>
          </p:cNvPr>
          <p:cNvSpPr txBox="1">
            <a:spLocks/>
          </p:cNvSpPr>
          <p:nvPr userDrawn="1"/>
        </p:nvSpPr>
        <p:spPr bwMode="auto">
          <a:xfrm rot="16200000">
            <a:off x="7745943" y="1633009"/>
            <a:ext cx="7334250" cy="320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7500" lnSpcReduction="20000"/>
          </a:bodyPr>
          <a:lstStyle>
            <a:lvl1pPr>
              <a:spcBef>
                <a:spcPts val="1825"/>
              </a:spcBef>
              <a:buFont typeface="Arial" pitchFamily="34" charset="0"/>
              <a:defRPr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9000" b="1" dirty="0">
                <a:solidFill>
                  <a:schemeClr val="bg1"/>
                </a:solidFill>
              </a:rPr>
              <a:t>Agenda</a:t>
            </a:r>
            <a:endParaRPr lang="en-US" altLang="pt-BR" sz="19000" b="1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51243" y="837516"/>
            <a:ext cx="9125693" cy="5313405"/>
          </a:xfrm>
        </p:spPr>
        <p:txBody>
          <a:bodyPr anchor="ctr">
            <a:normAutofit/>
          </a:bodyPr>
          <a:lstStyle>
            <a:lvl1pPr marL="457200" indent="-457200">
              <a:buAutoNum type="arabicPeriod"/>
              <a:defRPr sz="2000" b="0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399777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opçãodec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9C039A87-668C-4F3C-81D3-DDA3AC82BD6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 sz="1800" dirty="0">
              <a:solidFill>
                <a:srgbClr val="007E7A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1C0710F-A926-4049-AC53-8039C7EFFB1A}"/>
              </a:ext>
            </a:extLst>
          </p:cNvPr>
          <p:cNvSpPr txBox="1">
            <a:spLocks/>
          </p:cNvSpPr>
          <p:nvPr userDrawn="1"/>
        </p:nvSpPr>
        <p:spPr bwMode="auto">
          <a:xfrm rot="16200000">
            <a:off x="7735359" y="1637772"/>
            <a:ext cx="7334251" cy="320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7500" lnSpcReduction="20000"/>
          </a:bodyPr>
          <a:lstStyle>
            <a:lvl1pPr>
              <a:spcBef>
                <a:spcPts val="1825"/>
              </a:spcBef>
              <a:buFont typeface="Arial" pitchFamily="34" charset="0"/>
              <a:defRPr>
                <a:solidFill>
                  <a:srgbClr val="747678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9000" b="1" dirty="0">
                <a:solidFill>
                  <a:schemeClr val="bg1"/>
                </a:solidFill>
              </a:rPr>
              <a:t>Agenda</a:t>
            </a:r>
            <a:endParaRPr lang="en-US" altLang="pt-BR" sz="19000" b="1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51243" y="837516"/>
            <a:ext cx="9125693" cy="5313405"/>
          </a:xfrm>
        </p:spPr>
        <p:txBody>
          <a:bodyPr anchor="ctr">
            <a:normAutofit/>
          </a:bodyPr>
          <a:lstStyle>
            <a:lvl1pPr marL="457200" indent="-457200">
              <a:buAutoNum type="arabicPeriod"/>
              <a:defRPr sz="2000" b="0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3629957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69BB58AC-48CC-419C-86AF-7FFD2E6DD596}"/>
              </a:ext>
            </a:extLst>
          </p:cNvPr>
          <p:cNvCxnSpPr/>
          <p:nvPr userDrawn="1"/>
        </p:nvCxnSpPr>
        <p:spPr>
          <a:xfrm>
            <a:off x="751418" y="1203325"/>
            <a:ext cx="1056216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9472" y="441430"/>
            <a:ext cx="10554789" cy="76236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 lang="pt-BR" sz="1600" b="0" dirty="0" smtClean="0"/>
            </a:lvl1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336" y="1292697"/>
            <a:ext cx="10561925" cy="726609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1"/>
          </p:nvPr>
        </p:nvSpPr>
        <p:spPr>
          <a:xfrm>
            <a:off x="752338" y="2108206"/>
            <a:ext cx="10561925" cy="3649887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694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ctionTitl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3">
            <a:extLst>
              <a:ext uri="{FF2B5EF4-FFF2-40B4-BE49-F238E27FC236}">
                <a16:creationId xmlns:a16="http://schemas.microsoft.com/office/drawing/2014/main" id="{3B5CD5EC-0D23-4155-B24F-7CD9C54E923A}"/>
              </a:ext>
            </a:extLst>
          </p:cNvPr>
          <p:cNvCxnSpPr/>
          <p:nvPr userDrawn="1"/>
        </p:nvCxnSpPr>
        <p:spPr>
          <a:xfrm>
            <a:off x="751418" y="1203325"/>
            <a:ext cx="1056216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759472" y="441430"/>
            <a:ext cx="10554789" cy="76236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 lang="pt-BR" sz="1600" b="0" dirty="0" smtClean="0"/>
            </a:lvl1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336" y="1292697"/>
            <a:ext cx="10561925" cy="726609"/>
          </a:xfrm>
        </p:spPr>
        <p:txBody>
          <a:bodyPr/>
          <a:lstStyle>
            <a:lvl1pPr>
              <a:defRPr sz="3000"/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1"/>
          </p:nvPr>
        </p:nvSpPr>
        <p:spPr>
          <a:xfrm>
            <a:off x="759481" y="2107837"/>
            <a:ext cx="5033511" cy="3712783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  <p:sp>
        <p:nvSpPr>
          <p:cNvPr id="7" name="Content Placeholder 2"/>
          <p:cNvSpPr>
            <a:spLocks noGrp="1"/>
          </p:cNvSpPr>
          <p:nvPr>
            <p:ph idx="12"/>
          </p:nvPr>
        </p:nvSpPr>
        <p:spPr>
          <a:xfrm>
            <a:off x="6262278" y="2108810"/>
            <a:ext cx="5033511" cy="3712783"/>
          </a:xfrm>
        </p:spPr>
        <p:txBody>
          <a:bodyPr>
            <a:normAutofit/>
          </a:bodyPr>
          <a:lstStyle>
            <a:lvl1pPr algn="l">
              <a:defRPr sz="1600">
                <a:solidFill>
                  <a:srgbClr val="747678"/>
                </a:solidFill>
                <a:latin typeface="Arial"/>
                <a:cs typeface="Arial"/>
              </a:defRPr>
            </a:lvl1pPr>
            <a:lvl2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2pPr>
            <a:lvl3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3pPr>
            <a:lvl4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4pPr>
            <a:lvl5pPr algn="l">
              <a:defRPr sz="1800">
                <a:solidFill>
                  <a:srgbClr val="747678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styles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4117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ando Valor - A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8189A7F1-6612-4A68-B963-1760CE7E6256}"/>
              </a:ext>
            </a:extLst>
          </p:cNvPr>
          <p:cNvSpPr/>
          <p:nvPr userDrawn="1"/>
        </p:nvSpPr>
        <p:spPr>
          <a:xfrm>
            <a:off x="1" y="5889626"/>
            <a:ext cx="10096500" cy="968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 sz="1800" dirty="0">
              <a:solidFill>
                <a:srgbClr val="FFFFFF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6AE69C8-91CA-4656-AE88-934D019D2F15}"/>
              </a:ext>
            </a:extLst>
          </p:cNvPr>
          <p:cNvSpPr/>
          <p:nvPr userDrawn="1"/>
        </p:nvSpPr>
        <p:spPr>
          <a:xfrm>
            <a:off x="0" y="6635750"/>
            <a:ext cx="12192000" cy="222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 sz="1800" dirty="0">
              <a:solidFill>
                <a:srgbClr val="FFFFFF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7E4F228-DEAA-40F8-9769-38078EB31165}"/>
              </a:ext>
            </a:extLst>
          </p:cNvPr>
          <p:cNvSpPr/>
          <p:nvPr userDrawn="1"/>
        </p:nvSpPr>
        <p:spPr>
          <a:xfrm>
            <a:off x="0" y="4362450"/>
            <a:ext cx="12192000" cy="141288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 sz="1800" dirty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25" y="4753018"/>
            <a:ext cx="9419183" cy="1533483"/>
          </a:xfrm>
        </p:spPr>
        <p:txBody>
          <a:bodyPr>
            <a:noAutofit/>
          </a:bodyPr>
          <a:lstStyle>
            <a:lvl1pPr algn="l">
              <a:lnSpc>
                <a:spcPct val="90000"/>
              </a:lnSpc>
              <a:defRPr sz="5300" b="1" cap="none">
                <a:solidFill>
                  <a:srgbClr val="747678"/>
                </a:solidFill>
              </a:defRPr>
            </a:lvl1pPr>
          </a:lstStyle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12192000" cy="4362451"/>
          </a:xfrm>
        </p:spPr>
        <p:txBody>
          <a:bodyPr rtlCol="0">
            <a:normAutofit/>
          </a:bodyPr>
          <a:lstStyle/>
          <a:p>
            <a:pPr lvl="0"/>
            <a:r>
              <a:rPr lang="pt-BR" noProof="0" dirty="0"/>
              <a:t>Clique no ícone para adicionar uma imagem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5596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724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553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215"/>
            </a:lvl1pPr>
            <a:lvl2pPr marL="422041" indent="0" algn="ctr">
              <a:buNone/>
              <a:defRPr sz="1846"/>
            </a:lvl2pPr>
            <a:lvl3pPr marL="844083" indent="0" algn="ctr">
              <a:buNone/>
              <a:defRPr sz="1662"/>
            </a:lvl3pPr>
            <a:lvl4pPr marL="1266124" indent="0" algn="ctr">
              <a:buNone/>
              <a:defRPr sz="1477"/>
            </a:lvl4pPr>
            <a:lvl5pPr marL="1688165" indent="0" algn="ctr">
              <a:buNone/>
              <a:defRPr sz="1477"/>
            </a:lvl5pPr>
            <a:lvl6pPr marL="2110207" indent="0" algn="ctr">
              <a:buNone/>
              <a:defRPr sz="1477"/>
            </a:lvl6pPr>
            <a:lvl7pPr marL="2532248" indent="0" algn="ctr">
              <a:buNone/>
              <a:defRPr sz="1477"/>
            </a:lvl7pPr>
            <a:lvl8pPr marL="2954289" indent="0" algn="ctr">
              <a:buNone/>
              <a:defRPr sz="1477"/>
            </a:lvl8pPr>
            <a:lvl9pPr marL="3376331" indent="0" algn="ctr">
              <a:buNone/>
              <a:defRPr sz="1477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45AB4-835C-4941-9946-38E5200DE5B7}" type="datetimeFigureOut">
              <a:rPr lang="pt-BR" smtClean="0"/>
              <a:t>22/11/2022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3E2E3-C507-49DB-A703-C86F8B5E78F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6873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E9991F9-6DD1-40C6-A827-93526E5DF9D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6FC21-DEBD-4CFA-8EF3-15383AB5D08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3" name="Rectangle 57">
            <a:extLst>
              <a:ext uri="{FF2B5EF4-FFF2-40B4-BE49-F238E27FC236}">
                <a16:creationId xmlns:a16="http://schemas.microsoft.com/office/drawing/2014/main" id="{BE9D84EF-9A81-4515-9CE5-E91DB6826C4F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b="1"/>
            </a:lvl1pPr>
          </a:lstStyle>
          <a:p>
            <a:pPr>
              <a:defRPr/>
            </a:pPr>
            <a:r>
              <a:rPr lang="pt-BR"/>
              <a:t>Título da apresentação – 01/12/2010 (opcional)</a:t>
            </a:r>
          </a:p>
        </p:txBody>
      </p:sp>
    </p:spTree>
    <p:extLst>
      <p:ext uri="{BB962C8B-B14F-4D97-AF65-F5344CB8AC3E}">
        <p14:creationId xmlns:p14="http://schemas.microsoft.com/office/powerpoint/2010/main" val="1610235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AE56CA-88E3-499C-8D89-34C51A1BA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68325"/>
            <a:ext cx="10562167" cy="11430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pt-BR" altLang="pt-BR"/>
              <a:t>A Vale</a:t>
            </a:r>
            <a:endParaRPr lang="en-US" altLang="pt-BR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4FAC9FD-55E0-4894-9B15-CB03C63131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62001" y="2101851"/>
            <a:ext cx="10562167" cy="371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Texto</a:t>
            </a:r>
            <a:endParaRPr lang="en-US" altLang="pt-BR"/>
          </a:p>
        </p:txBody>
      </p:sp>
      <p:pic>
        <p:nvPicPr>
          <p:cNvPr id="1028" name="Picture 3" descr="vale_4cu.eps">
            <a:extLst>
              <a:ext uri="{FF2B5EF4-FFF2-40B4-BE49-F238E27FC236}">
                <a16:creationId xmlns:a16="http://schemas.microsoft.com/office/drawing/2014/main" id="{C9A6DEEC-29F7-4529-90D9-62CE1EC5835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200" y="6048376"/>
            <a:ext cx="1413933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E2A8783-92F5-43C7-BB88-EA77B7ECA72B}"/>
              </a:ext>
            </a:extLst>
          </p:cNvPr>
          <p:cNvSpPr/>
          <p:nvPr userDrawn="1"/>
        </p:nvSpPr>
        <p:spPr>
          <a:xfrm>
            <a:off x="1" y="6729414"/>
            <a:ext cx="12187767" cy="128587"/>
          </a:xfrm>
          <a:prstGeom prst="rect">
            <a:avLst/>
          </a:prstGeom>
          <a:solidFill>
            <a:srgbClr val="00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 sz="1800" dirty="0">
              <a:solidFill>
                <a:srgbClr val="FFFFFF"/>
              </a:solidFill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CCFB75F-B735-4DCD-BB5C-D571C2B73935}"/>
              </a:ext>
            </a:extLst>
          </p:cNvPr>
          <p:cNvSpPr txBox="1">
            <a:spLocks/>
          </p:cNvSpPr>
          <p:nvPr userDrawn="1"/>
        </p:nvSpPr>
        <p:spPr>
          <a:xfrm>
            <a:off x="785284" y="6203951"/>
            <a:ext cx="2844800" cy="365125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F34F091-0AD4-4B9A-A8C0-DEC753C63D8F}" type="slidenum">
              <a:rPr lang="en-US" altLang="pt-BR" sz="1200" smtClean="0">
                <a:solidFill>
                  <a:srgbClr val="FFFFFF"/>
                </a:solidFill>
              </a:rPr>
              <a:pPr eaLnBrk="1" hangingPunct="1">
                <a:defRPr/>
              </a:pPr>
              <a:t>‹nº›</a:t>
            </a:fld>
            <a:endParaRPr lang="en-US" altLang="pt-BR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345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300" b="1" kern="1200" spc="-150">
          <a:solidFill>
            <a:srgbClr val="747678"/>
          </a:solidFill>
          <a:latin typeface="Arial"/>
          <a:ea typeface="+mj-ea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3300" b="1">
          <a:solidFill>
            <a:srgbClr val="747678"/>
          </a:solidFill>
          <a:latin typeface="Arial" pitchFamily="34" charset="0"/>
          <a:cs typeface="Arial" pitchFamily="34" charset="0"/>
        </a:defRPr>
      </a:lvl9pPr>
    </p:titleStyle>
    <p:bodyStyle>
      <a:lvl1pPr algn="l" defTabSz="457200" rtl="0" eaLnBrk="0" fontAlgn="base" hangingPunct="0">
        <a:spcBef>
          <a:spcPts val="1825"/>
        </a:spcBef>
        <a:spcAft>
          <a:spcPct val="0"/>
        </a:spcAft>
        <a:buFont typeface="Arial" panose="020B0604020202020204" pitchFamily="34" charset="0"/>
        <a:defRPr kern="1200">
          <a:solidFill>
            <a:srgbClr val="747678"/>
          </a:solidFill>
          <a:latin typeface="Arial"/>
          <a:ea typeface="+mn-ea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3B513F4-A08A-440F-BF34-15AFB0616B13}"/>
              </a:ext>
            </a:extLst>
          </p:cNvPr>
          <p:cNvSpPr txBox="1"/>
          <p:nvPr/>
        </p:nvSpPr>
        <p:spPr>
          <a:xfrm>
            <a:off x="89060" y="273814"/>
            <a:ext cx="5404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defTabSz="4572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40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Senhores Maquinistas,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BE18ACD-CD78-8B23-0955-28B2BD9B1B6F}"/>
              </a:ext>
            </a:extLst>
          </p:cNvPr>
          <p:cNvSpPr txBox="1"/>
          <p:nvPr/>
        </p:nvSpPr>
        <p:spPr>
          <a:xfrm>
            <a:off x="89060" y="1431236"/>
            <a:ext cx="121029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0000"/>
                </a:solidFill>
                <a:latin typeface="Arial"/>
                <a:cs typeface="Arial"/>
              </a:rPr>
              <a:t>   Em função das várias situações identificadas, seja via registradores de eventos ou via auto </a:t>
            </a:r>
            <a:r>
              <a:rPr lang="pt-BR" sz="2400" b="1" dirty="0" err="1">
                <a:solidFill>
                  <a:srgbClr val="000000"/>
                </a:solidFill>
                <a:latin typeface="Arial"/>
                <a:cs typeface="Arial"/>
              </a:rPr>
              <a:t>report</a:t>
            </a:r>
            <a:r>
              <a:rPr lang="pt-BR" sz="2400" b="1" dirty="0">
                <a:solidFill>
                  <a:srgbClr val="000000"/>
                </a:solidFill>
                <a:latin typeface="Arial"/>
                <a:cs typeface="Arial"/>
              </a:rPr>
              <a:t>, onde os trens recebem o sinal amarelo na SBM 75/74, e em seguida ocorre o corte da tração, ou até mesmo penalização do trem, por não cumprir a curva do ATC em tempo e distância necessários.</a:t>
            </a:r>
          </a:p>
          <a:p>
            <a:r>
              <a:rPr lang="pt-BR" sz="2400" b="1" dirty="0">
                <a:solidFill>
                  <a:srgbClr val="000000"/>
                </a:solidFill>
                <a:latin typeface="Arial"/>
                <a:cs typeface="Arial"/>
              </a:rPr>
              <a:t>  A inspetoria de IC orienta a todos, a perguntarem ao CCO a condição de rota na H74, ou chegarem na SBM 75/74 em condições de cumprir a curva do ATC caso recebam o sinal amarelo nesta SB.</a:t>
            </a:r>
          </a:p>
          <a:p>
            <a:endParaRPr lang="pt-BR" sz="2400" b="1" dirty="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pt-BR" sz="2400" b="1" dirty="0">
                <a:solidFill>
                  <a:srgbClr val="000000"/>
                </a:solidFill>
                <a:latin typeface="Arial"/>
                <a:cs typeface="Arial"/>
              </a:rPr>
              <a:t>   Outro ponto a ser lembrado, é a parada do trem sem ocupar a PN da obra, que ainda está ativa acima da H74.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B7EA0D-F8F5-14F3-9F3C-80E7AB2A2E2F}"/>
              </a:ext>
            </a:extLst>
          </p:cNvPr>
          <p:cNvSpPr txBox="1"/>
          <p:nvPr/>
        </p:nvSpPr>
        <p:spPr>
          <a:xfrm>
            <a:off x="10071652" y="6520071"/>
            <a:ext cx="19191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b="1" dirty="0">
                <a:solidFill>
                  <a:srgbClr val="000000"/>
                </a:solidFill>
                <a:latin typeface="Arial"/>
                <a:cs typeface="Arial"/>
              </a:rPr>
              <a:t>Inspetoria de IC – 22/11/2022</a:t>
            </a:r>
          </a:p>
        </p:txBody>
      </p:sp>
    </p:spTree>
    <p:extLst>
      <p:ext uri="{BB962C8B-B14F-4D97-AF65-F5344CB8AC3E}">
        <p14:creationId xmlns:p14="http://schemas.microsoft.com/office/powerpoint/2010/main" val="2526770061"/>
      </p:ext>
    </p:extLst>
  </p:cSld>
  <p:clrMapOvr>
    <a:masterClrMapping/>
  </p:clrMapOvr>
</p:sld>
</file>

<file path=ppt/theme/theme1.xml><?xml version="1.0" encoding="utf-8"?>
<a:theme xmlns:a="http://schemas.openxmlformats.org/drawingml/2006/main" name="VALE MASTER">
  <a:themeElements>
    <a:clrScheme name="Custom 2 1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007E7A"/>
      </a:accent1>
      <a:accent2>
        <a:srgbClr val="BB133E"/>
      </a:accent2>
      <a:accent3>
        <a:srgbClr val="E37222"/>
      </a:accent3>
      <a:accent4>
        <a:srgbClr val="3D7EDB"/>
      </a:accent4>
      <a:accent5>
        <a:srgbClr val="00B0CA"/>
      </a:accent5>
      <a:accent6>
        <a:srgbClr val="69BE28"/>
      </a:accent6>
      <a:hlink>
        <a:srgbClr val="EDB111"/>
      </a:hlink>
      <a:folHlink>
        <a:srgbClr val="74767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7E7A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8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rgbClr val="747678"/>
            </a:solidFill>
            <a:latin typeface="Arial"/>
            <a:cs typeface="Arial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134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VALE MASTER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Jairo Celso</dc:creator>
  <cp:lastModifiedBy>Julio Cesar Ribeiro</cp:lastModifiedBy>
  <cp:revision>5</cp:revision>
  <dcterms:created xsi:type="dcterms:W3CDTF">2020-03-17T16:29:34Z</dcterms:created>
  <dcterms:modified xsi:type="dcterms:W3CDTF">2022-11-22T17:21:33Z</dcterms:modified>
</cp:coreProperties>
</file>