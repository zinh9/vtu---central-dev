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6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E7A"/>
    <a:srgbClr val="B9B9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49" autoAdjust="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AEEFB-B3AF-40E4-B568-2818F1B08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988C11-6742-4D8D-A6EC-A580E829E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589A33-ADF0-46EB-BB7D-DBAC40ED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B97D-73E9-40F0-814F-D22C712E4622}" type="datetimeFigureOut">
              <a:rPr lang="pt-BR" smtClean="0"/>
              <a:t>08/01/2025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5D36DB-2D71-4A25-88B7-D8801393B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733950-F630-49FF-A34B-8FEB8FAD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97B2-5CD4-49A8-94D6-8075EF5D6B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415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2B2AC-A05E-43B6-AC64-99937F9C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F5761D-83E7-4EC5-A166-D527C259D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C987AC-9492-486F-A6A9-768F42222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B97D-73E9-40F0-814F-D22C712E4622}" type="datetimeFigureOut">
              <a:rPr lang="pt-BR" smtClean="0"/>
              <a:t>08/01/2025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237217-DD83-43A0-8C64-9EC54BA4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29B62A-DA0D-4389-897D-FAAB95EBB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97B2-5CD4-49A8-94D6-8075EF5D6B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9887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D1A60-8464-4279-B41F-0DA680BE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55B107-9785-409E-8C6A-68305BDC7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B569D8-934B-4FBE-BC56-A54E49E9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B97D-73E9-40F0-814F-D22C712E4622}" type="datetimeFigureOut">
              <a:rPr lang="pt-BR" smtClean="0"/>
              <a:t>08/01/2025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C718B0-0010-4C0D-8BDF-48EFACA3A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E218C-0216-44D0-9164-D9EE87229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97B2-5CD4-49A8-94D6-8075EF5D6B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653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95F92-BF56-43FF-A310-0E1F56E72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82E671-38B1-475F-84BA-796139906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7CD388-713B-4640-91F4-5E6D6D2F3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572D98-1001-4764-A1A6-DA80FC2BE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B97D-73E9-40F0-814F-D22C712E4622}" type="datetimeFigureOut">
              <a:rPr lang="pt-BR" smtClean="0"/>
              <a:t>08/01/2025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B5E15D-C32D-438C-A6B8-987734F31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447B74-3175-44D7-9885-D32B6369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97B2-5CD4-49A8-94D6-8075EF5D6B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9600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0FBFA-1B2D-4628-843E-5DEDB5EAF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9CC7A9-F019-4CA9-B40D-E209B7759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5B7440-033C-478E-8B1B-2191609FE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116B03-F6BA-41F3-AB50-846EF04D6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5EE1C60-3DC9-4EAD-91E3-03D1A942D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AD29A2-F846-41A5-A1C3-46526B580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B97D-73E9-40F0-814F-D22C712E4622}" type="datetimeFigureOut">
              <a:rPr lang="pt-BR" smtClean="0"/>
              <a:t>08/01/2025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7E183A4-9E1B-45CE-AE0F-7CC596D2A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9D90299-D1B0-4D76-A942-7DBFE7D4B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97B2-5CD4-49A8-94D6-8075EF5D6B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962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3C2A2-993E-4170-9A59-A1B35B052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E330731-8990-437E-85D6-490FAC18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B97D-73E9-40F0-814F-D22C712E4622}" type="datetimeFigureOut">
              <a:rPr lang="pt-BR" smtClean="0"/>
              <a:t>08/01/2025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85BB117-433D-42EA-B7B9-4C942515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3C0D5D3-5E0D-48CC-B25E-D2DB960CA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97B2-5CD4-49A8-94D6-8075EF5D6B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19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5298FD6-4D24-4ED1-968B-197AC089A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B97D-73E9-40F0-814F-D22C712E4622}" type="datetimeFigureOut">
              <a:rPr lang="pt-BR" smtClean="0"/>
              <a:t>08/01/2025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F4C4890-6153-4CB9-85C8-626AA3C5D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260F2A-AEF5-43FF-8BA8-B65F0D02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97B2-5CD4-49A8-94D6-8075EF5D6B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7827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08087-EC73-4826-A7AD-F19AE782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9F076A-BC00-4C38-BDCE-3BC373BE5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7DC45A-A6C9-4DE6-932B-D9FBC57B6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F45D04-E96C-4B70-BAF7-A0455D6C8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B97D-73E9-40F0-814F-D22C712E4622}" type="datetimeFigureOut">
              <a:rPr lang="pt-BR" smtClean="0"/>
              <a:t>08/01/2025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FFB35B7-F34F-414A-9F53-6F796F9A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01C5A3-1B25-4939-BD1E-CD80F435C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97B2-5CD4-49A8-94D6-8075EF5D6B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459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EBEFA-C5C7-41DE-8990-AE279041A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A040983-360B-490F-AD60-A8E198BCE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48E576-76A7-4480-A794-E8BD98662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419B0C-85E0-4778-AFE4-246014988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B97D-73E9-40F0-814F-D22C712E4622}" type="datetimeFigureOut">
              <a:rPr lang="pt-BR" smtClean="0"/>
              <a:t>08/01/2025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E0BB29-124D-4578-ACA2-1FDAC476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BCC70B-8088-4363-B6C6-AFCF21282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97B2-5CD4-49A8-94D6-8075EF5D6B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822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0C891-13A6-4BAC-A7BF-D0DED153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B22CC1-A24E-4194-B748-68AE9136F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1912D2-93B5-452C-B411-D252359D7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B97D-73E9-40F0-814F-D22C712E4622}" type="datetimeFigureOut">
              <a:rPr lang="pt-BR" smtClean="0"/>
              <a:t>08/01/2025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789BB2-FEAA-4A91-8655-78A70D68C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A9D78D-40B3-4088-9BD8-8DC9C633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97B2-5CD4-49A8-94D6-8075EF5D6B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553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3ED23E2-5DF3-45C5-898E-28DC48C7B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858546-315D-4BC5-9F07-0A71EE207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989977-0AE9-4CFD-9172-6416728C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B97D-73E9-40F0-814F-D22C712E4622}" type="datetimeFigureOut">
              <a:rPr lang="pt-BR" smtClean="0"/>
              <a:t>08/01/2025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E64E80-F055-4648-AFA6-9E4467AE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3CAB43-DC4B-4EB2-8AE0-B614B74FC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397B2-5CD4-49A8-94D6-8075EF5D6B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609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FE8F5CA-E0E7-4AB1-96C3-95095DBE0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4497DC-3410-497C-A4BD-596F9694D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B72E5F-27B3-49FA-86B6-1391FD8FC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8B97D-73E9-40F0-814F-D22C712E4622}" type="datetimeFigureOut">
              <a:rPr lang="pt-BR" smtClean="0"/>
              <a:t>08/01/2025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FE0F06-0FCF-4242-8558-2F527FB8B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889876-CCDF-4CF3-BDA2-CD1964037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397B2-5CD4-49A8-94D6-8075EF5D6B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6134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9F3BA69-502F-4C49-9DFF-29723F6A3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01524" cy="816935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23" name="Rectangle 14">
            <a:extLst>
              <a:ext uri="{FF2B5EF4-FFF2-40B4-BE49-F238E27FC236}">
                <a16:creationId xmlns:a16="http://schemas.microsoft.com/office/drawing/2014/main" id="{6224C923-A44C-C91B-5993-5E9B8584C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28528" tIns="45720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Text Box 13">
            <a:extLst>
              <a:ext uri="{FF2B5EF4-FFF2-40B4-BE49-F238E27FC236}">
                <a16:creationId xmlns:a16="http://schemas.microsoft.com/office/drawing/2014/main" id="{CC1A0A81-FAA3-51E6-2A69-2A50DE8AFDB0}"/>
              </a:ext>
            </a:extLst>
          </p:cNvPr>
          <p:cNvSpPr txBox="1">
            <a:spLocks noChangeArrowheads="1"/>
          </p:cNvSpPr>
          <p:nvPr/>
        </p:nvSpPr>
        <p:spPr bwMode="auto">
          <a:xfrm flipV="1">
            <a:off x="1187450" y="0"/>
            <a:ext cx="142875" cy="14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18FF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BFCC1774-F593-9FAA-0BC2-FBCCC7C1E4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6496" y="142875"/>
            <a:ext cx="1302460" cy="491092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E1D3BE17-85DB-5205-3689-3BE2B302200B}"/>
              </a:ext>
            </a:extLst>
          </p:cNvPr>
          <p:cNvSpPr txBox="1"/>
          <p:nvPr/>
        </p:nvSpPr>
        <p:spPr>
          <a:xfrm>
            <a:off x="4841822" y="3658881"/>
            <a:ext cx="7227133" cy="2896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algn="just">
              <a:lnSpc>
                <a:spcPct val="150000"/>
              </a:lnSpc>
              <a:spcAft>
                <a:spcPts val="600"/>
              </a:spcAft>
            </a:pPr>
            <a:r>
              <a:rPr lang="pt-BR" sz="2800" dirty="0"/>
              <a:t>Importante reforçar a necessidade e a autonomia de todos os operadores a reduzirem a </a:t>
            </a:r>
            <a:r>
              <a:rPr lang="pt-BR" sz="2800" dirty="0" err="1"/>
              <a:t>VMA</a:t>
            </a:r>
            <a:r>
              <a:rPr lang="pt-BR" sz="2800" dirty="0"/>
              <a:t> em caso de risco à circulação dos trens</a:t>
            </a:r>
          </a:p>
          <a:p>
            <a:pPr marL="180340" algn="just">
              <a:lnSpc>
                <a:spcPct val="150000"/>
              </a:lnSpc>
              <a:spcAft>
                <a:spcPts val="600"/>
              </a:spcAft>
            </a:pPr>
            <a:r>
              <a:rPr lang="pt-BR" dirty="0"/>
              <a:t>Em caso de Duvidas procurar Supervisão.                                                                                                     08 / 01 /2025.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1E03216-8047-4D8F-907F-810EEE283C99}"/>
              </a:ext>
            </a:extLst>
          </p:cNvPr>
          <p:cNvSpPr txBox="1"/>
          <p:nvPr/>
        </p:nvSpPr>
        <p:spPr>
          <a:xfrm>
            <a:off x="5374667" y="14114"/>
            <a:ext cx="5219015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3600" b="1" dirty="0">
                <a:solidFill>
                  <a:srgbClr val="007E7A"/>
                </a:solidFill>
              </a:rPr>
              <a:t>EFVM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4B2795A2-406A-5E58-E231-8F08E51EFF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43" y="87001"/>
            <a:ext cx="2400301" cy="45720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363118B8-15F2-D4AD-6846-068F02060CA9}"/>
              </a:ext>
            </a:extLst>
          </p:cNvPr>
          <p:cNvSpPr txBox="1"/>
          <p:nvPr/>
        </p:nvSpPr>
        <p:spPr>
          <a:xfrm>
            <a:off x="0" y="-506"/>
            <a:ext cx="5114441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3200" b="1" dirty="0">
                <a:solidFill>
                  <a:schemeClr val="bg1"/>
                </a:solidFill>
              </a:rPr>
              <a:t>INFORMATIVO OPERACONAL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FCC1676-E6BE-6A5A-58DD-F0448B04C9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980" y="3938809"/>
            <a:ext cx="4628539" cy="261637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07ACE2E-71C9-668F-B245-33861B1717EC}"/>
              </a:ext>
            </a:extLst>
          </p:cNvPr>
          <p:cNvSpPr txBox="1"/>
          <p:nvPr/>
        </p:nvSpPr>
        <p:spPr>
          <a:xfrm>
            <a:off x="153959" y="910553"/>
            <a:ext cx="11756040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340" algn="just">
              <a:lnSpc>
                <a:spcPct val="150000"/>
              </a:lnSpc>
              <a:spcAft>
                <a:spcPts val="600"/>
              </a:spcAft>
            </a:pPr>
            <a:r>
              <a:rPr lang="pt-BR" sz="2800" dirty="0"/>
              <a:t>Após nova avaliação dos responsáveis, fica </a:t>
            </a:r>
            <a:r>
              <a:rPr lang="pt-BR" sz="2800" b="1" dirty="0">
                <a:solidFill>
                  <a:srgbClr val="007E7A"/>
                </a:solidFill>
              </a:rPr>
              <a:t>REVOGADA A RESTRIÇÃO </a:t>
            </a:r>
            <a:r>
              <a:rPr lang="pt-BR" sz="2800" dirty="0"/>
              <a:t>de </a:t>
            </a:r>
            <a:r>
              <a:rPr lang="pt-BR" sz="2800" dirty="0" err="1"/>
              <a:t>40km</a:t>
            </a:r>
            <a:r>
              <a:rPr lang="pt-BR" sz="2800" dirty="0"/>
              <a:t>/h imposta a todos os trens da EFVM, anteriormente informada, devendo os trens circularem com a </a:t>
            </a:r>
            <a:r>
              <a:rPr lang="pt-BR" sz="2800" b="1" dirty="0" err="1">
                <a:solidFill>
                  <a:srgbClr val="007E7A"/>
                </a:solidFill>
              </a:rPr>
              <a:t>VMA</a:t>
            </a:r>
            <a:r>
              <a:rPr lang="pt-BR" sz="2800" b="1" dirty="0">
                <a:solidFill>
                  <a:srgbClr val="007E7A"/>
                </a:solidFill>
              </a:rPr>
              <a:t> NORMAL</a:t>
            </a:r>
            <a:r>
              <a:rPr lang="pt-BR" sz="2800" dirty="0"/>
              <a:t>, ou seguindo as orientações do </a:t>
            </a:r>
            <a:r>
              <a:rPr lang="pt-BR" sz="2800" dirty="0" err="1"/>
              <a:t>CCO</a:t>
            </a:r>
            <a:r>
              <a:rPr lang="pt-BR" sz="2800" dirty="0"/>
              <a:t> para redução da </a:t>
            </a:r>
            <a:r>
              <a:rPr lang="pt-BR" sz="2800" dirty="0" err="1"/>
              <a:t>VMA</a:t>
            </a:r>
            <a:r>
              <a:rPr lang="pt-BR" sz="2800" dirty="0"/>
              <a:t> em determinados trechos.</a:t>
            </a:r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53225E1-B0AC-3157-31A7-09B42E22A2BC}"/>
              </a:ext>
            </a:extLst>
          </p:cNvPr>
          <p:cNvSpPr txBox="1"/>
          <p:nvPr/>
        </p:nvSpPr>
        <p:spPr>
          <a:xfrm rot="19517116">
            <a:off x="1105806" y="4843067"/>
            <a:ext cx="28232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>
                <a:solidFill>
                  <a:srgbClr val="FF0000"/>
                </a:solidFill>
              </a:rPr>
              <a:t>CANCELADO</a:t>
            </a:r>
          </a:p>
        </p:txBody>
      </p:sp>
    </p:spTree>
    <p:extLst>
      <p:ext uri="{BB962C8B-B14F-4D97-AF65-F5344CB8AC3E}">
        <p14:creationId xmlns:p14="http://schemas.microsoft.com/office/powerpoint/2010/main" val="439881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40ed6a7-0f03-43d9-901d-02d4a7e408aa}" enabled="1" method="Privileged" siteId="{7893571b-6c2c-4cef-b4da-7d4b266a062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1449</TotalTime>
  <Words>88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Nelson Neto</dc:creator>
  <cp:lastModifiedBy>Gilmar Oliveira</cp:lastModifiedBy>
  <cp:revision>13</cp:revision>
  <dcterms:created xsi:type="dcterms:W3CDTF">2022-05-03T14:11:50Z</dcterms:created>
  <dcterms:modified xsi:type="dcterms:W3CDTF">2025-01-08T21:18:23Z</dcterms:modified>
</cp:coreProperties>
</file>